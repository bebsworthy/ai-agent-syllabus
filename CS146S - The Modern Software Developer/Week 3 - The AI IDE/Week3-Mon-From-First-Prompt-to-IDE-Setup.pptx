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openai/codex/blob/main/AGENTS.md" TargetMode="External"/><Relationship Id="rId3" Type="http://schemas.openxmlformats.org/officeDocument/2006/relationships/hyperlink" Target="http://agents.md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5039201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5039201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c53c6a7a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c53c6a7a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𝗧𝘂𝗿𝗯𝗼 𝗣𝗮𝘀𝗰𝗮𝗹 (𝟭𝟵𝟴𝟯): First all-in-one editor, compiler, and linker. Focused solely on the Pascal language.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𝗠𝗶𝗰𝗿𝗼𝘀𝗼𝗳𝘁 𝗩𝗶𝘀𝘂𝗮𝗹 𝗦𝘁𝘂𝗱𝗶𝗼 (𝟭𝟵𝟵𝟳): Offered advanced debugging capabilities for the C++/Visual Basic language. First usage of Intellisense (precursor to Tab-Complete).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𝗜𝗻𝘁𝗲𝗹𝗹𝗶𝗷 𝗜𝗗𝗘𝗔 (𝟮𝟬𝟬𝟭): Released with advanced contextual code navigation, refactoring, code completion (conceptual ancestor of much of the AI functionality now baked into modern IDEs).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𝗠𝗶𝗰𝗿𝗼𝘀𝗼𝗳𝘁 𝗩𝗦𝗖𝗼𝗱𝗲 (𝟮𝟬𝟭𝟱): Offered  lightweight editor with highly extensible ecosystem of plugins. Allowed for an ecosystem of AI extensions like Copilot, Codeium (Windsurf), etc. Also introduced LSP (the conceptual inspiration for MCP).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𝗖𝘂𝗿𝘀𝗼𝗿 (𝟮𝟬𝟮𝟯): Leaned heavily into AI-assisted development in all parts of IDE experience with refactoring, debugging, documentation generation, multi-file reasoning.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And here we are!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 the IDE evolution, there’s always a see-saw between functionality consolidation and developer customization. Bring more into one platform but still allow power users to choose their own adventure.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cecaaf79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7cecaaf79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Different modes (in Cursor) for different complexity:</a:t>
            </a:r>
            <a:br>
              <a:rPr lang="en"/>
            </a:br>
            <a:r>
              <a:rPr lang="en"/>
              <a:t>	* Tab (simple inline)</a:t>
            </a:r>
            <a:br>
              <a:rPr lang="en"/>
            </a:br>
            <a:r>
              <a:rPr lang="en"/>
              <a:t>	* Cmd-K - simple question / a few lines</a:t>
            </a:r>
            <a:br>
              <a:rPr lang="en"/>
            </a:br>
            <a:r>
              <a:rPr lang="en"/>
              <a:t>	* Cmd-L - multi-file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cecaaf79e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cecaaf79e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cecaaf79e_0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cecaaf79e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Can see which files have been indexed in “Indexing &amp; Docs” &gt; “Ignore Files in .cursorignore” &gt; “View included files”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c53c6a7a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7c53c6a7a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d73942d6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7d73942d6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something you should iterate on to find what works for you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These high level points should suffice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d73942d6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d73942d6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Do an actual more complex coding task with a specs doc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d73942d6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7d73942d6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 messy repo could be as simple as having different access patterns (like for a DB), variable naming, multiple functions that do the same thing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d73942d6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7d73942d6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152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d73942d6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7d73942d6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https://github.com/openai/codex/blob/main/AGENTS.md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Agents.md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README.md files are for humans: quick starts, project descriptions, and contribution guidelines.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AGENTS.md complements this by containing the extra, sometimes detailed context coding agents need: build steps, tests, and conventions that might clutter a README or aren’t relevant to human contributors.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We intentionally kept it separate to: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Give agents a clear, predictable place for instructions.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Keep READMEs concise and focused on human contributors.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Provide precise, agent-focused guidance that complements existing README and docs.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What to include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Add sections that help an agent work effectively with your project. Popular choices:</a:t>
            </a:r>
            <a:endParaRPr>
              <a:solidFill>
                <a:schemeClr val="dk1"/>
              </a:solidFill>
            </a:endParaRPr>
          </a:p>
          <a:p>
            <a:pPr indent="-298450" lvl="0" marL="1524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Project overview</a:t>
            </a:r>
            <a:endParaRPr>
              <a:solidFill>
                <a:schemeClr val="dk1"/>
              </a:solidFill>
            </a:endParaRPr>
          </a:p>
          <a:p>
            <a:pPr indent="-298450" lvl="0" marL="152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Build and test commands</a:t>
            </a:r>
            <a:endParaRPr>
              <a:solidFill>
                <a:schemeClr val="dk1"/>
              </a:solidFill>
            </a:endParaRPr>
          </a:p>
          <a:p>
            <a:pPr indent="-298450" lvl="0" marL="152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Code style guidelines</a:t>
            </a:r>
            <a:endParaRPr>
              <a:solidFill>
                <a:schemeClr val="dk1"/>
              </a:solidFill>
            </a:endParaRPr>
          </a:p>
          <a:p>
            <a:pPr indent="-298450" lvl="0" marL="152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Testing instructions</a:t>
            </a:r>
            <a:endParaRPr>
              <a:solidFill>
                <a:schemeClr val="dk1"/>
              </a:solidFill>
            </a:endParaRPr>
          </a:p>
          <a:p>
            <a:pPr indent="-298450" lvl="0" marL="152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Security considerations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d73942d6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d73942d6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See some cursorrules/claude code </a:t>
            </a:r>
            <a:r>
              <a:rPr lang="en" sz="1150">
                <a:solidFill>
                  <a:srgbClr val="595959"/>
                </a:solidFill>
              </a:rPr>
              <a:t>specs</a:t>
            </a:r>
            <a:r>
              <a:rPr lang="en" sz="1150">
                <a:solidFill>
                  <a:srgbClr val="595959"/>
                </a:solidFill>
              </a:rPr>
              <a:t> as a learning tool</a:t>
            </a:r>
            <a:endParaRPr sz="1150">
              <a:solidFill>
                <a:srgbClr val="595959"/>
              </a:solidFill>
            </a:endParaRPr>
          </a:p>
          <a:p>
            <a:pPr indent="-3016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Where do they exist in the repo</a:t>
            </a:r>
            <a:endParaRPr sz="1150">
              <a:solidFill>
                <a:srgbClr val="595959"/>
              </a:solidFill>
            </a:endParaRPr>
          </a:p>
          <a:p>
            <a:pPr indent="-3016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How extensive they can get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ognition.ai/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anthropic.com/engineering/claude-code-best-practices" TargetMode="External"/><Relationship Id="rId4" Type="http://schemas.openxmlformats.org/officeDocument/2006/relationships/hyperlink" Target="https://docs.cursor.com/en/context/rules" TargetMode="External"/><Relationship Id="rId5" Type="http://schemas.openxmlformats.org/officeDocument/2006/relationships/hyperlink" Target="https://docs.cursor.com/en/context/rules" TargetMode="External"/><Relationship Id="rId6" Type="http://schemas.openxmlformats.org/officeDocument/2006/relationships/hyperlink" Target="https://agents.md/" TargetMode="External"/><Relationship Id="rId7" Type="http://schemas.openxmlformats.org/officeDocument/2006/relationships/hyperlink" Target="https://agents.md/" TargetMode="External"/><Relationship Id="rId8" Type="http://schemas.openxmlformats.org/officeDocument/2006/relationships/hyperlink" Target="https://llmstxt.org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Lecture - 10/10/25 (8:30am PT, 420-041)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2308150" y="3764800"/>
            <a:ext cx="4456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Cognition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Head of Research, Silas Alberti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3213" y="1474925"/>
            <a:ext cx="2137475" cy="213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0" y="1724275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AI IDE: Fundamentals to Power User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 (Integrated Development Environment)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All-in-one workspaces for software development containing editor, compiler, debugger, and more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development work is done there so it’s a natural form factor for AI enhancement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their evolution, there’s always a see-saw between functionality consolidation and developer customization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history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grpSp>
        <p:nvGrpSpPr>
          <p:cNvPr id="92" name="Google Shape;92;p17"/>
          <p:cNvGrpSpPr/>
          <p:nvPr/>
        </p:nvGrpSpPr>
        <p:grpSpPr>
          <a:xfrm>
            <a:off x="3227854" y="2055425"/>
            <a:ext cx="3487320" cy="1309754"/>
            <a:chOff x="4526679" y="2276899"/>
            <a:chExt cx="3487320" cy="1309754"/>
          </a:xfrm>
        </p:grpSpPr>
        <p:sp>
          <p:nvSpPr>
            <p:cNvPr id="93" name="Google Shape;93;p17"/>
            <p:cNvSpPr/>
            <p:nvPr/>
          </p:nvSpPr>
          <p:spPr>
            <a:xfrm>
              <a:off x="4849299" y="3079474"/>
              <a:ext cx="3164700" cy="1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4" name="Google Shape;94;p17"/>
            <p:cNvGrpSpPr/>
            <p:nvPr/>
          </p:nvGrpSpPr>
          <p:grpSpPr>
            <a:xfrm>
              <a:off x="4526679" y="2276899"/>
              <a:ext cx="2148946" cy="1309754"/>
              <a:chOff x="4526679" y="2276899"/>
              <a:chExt cx="2148946" cy="1309754"/>
            </a:xfrm>
          </p:grpSpPr>
          <p:grpSp>
            <p:nvGrpSpPr>
              <p:cNvPr id="95" name="Google Shape;95;p17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96" name="Google Shape;96;p17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97" name="Google Shape;97;p17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8" name="Google Shape;98;p17"/>
              <p:cNvSpPr txBox="1"/>
              <p:nvPr/>
            </p:nvSpPr>
            <p:spPr>
              <a:xfrm>
                <a:off x="4526679" y="3215253"/>
                <a:ext cx="6927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" sz="1200">
                    <a:latin typeface="Roboto"/>
                    <a:ea typeface="Roboto"/>
                    <a:cs typeface="Roboto"/>
                    <a:sym typeface="Roboto"/>
                  </a:rPr>
                  <a:t>2001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9" name="Google Shape;99;p17"/>
              <p:cNvSpPr txBox="1"/>
              <p:nvPr/>
            </p:nvSpPr>
            <p:spPr>
              <a:xfrm>
                <a:off x="4753225" y="2276899"/>
                <a:ext cx="1922400" cy="39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latin typeface="Roboto"/>
                    <a:ea typeface="Roboto"/>
                    <a:cs typeface="Roboto"/>
                    <a:sym typeface="Roboto"/>
                  </a:rPr>
                  <a:t>Intellij IDEA released with advanced contextual code navigation, refactoring, code completion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t/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00" name="Google Shape;100;p17"/>
          <p:cNvGrpSpPr/>
          <p:nvPr/>
        </p:nvGrpSpPr>
        <p:grpSpPr>
          <a:xfrm>
            <a:off x="6365710" y="2481131"/>
            <a:ext cx="2275165" cy="1735644"/>
            <a:chOff x="6435810" y="2702596"/>
            <a:chExt cx="2398951" cy="1735644"/>
          </a:xfrm>
        </p:grpSpPr>
        <p:sp>
          <p:nvSpPr>
            <p:cNvPr id="101" name="Google Shape;101;p17"/>
            <p:cNvSpPr/>
            <p:nvPr/>
          </p:nvSpPr>
          <p:spPr>
            <a:xfrm>
              <a:off x="6807661" y="3079466"/>
              <a:ext cx="2027100" cy="1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" name="Google Shape;102;p17"/>
            <p:cNvGrpSpPr/>
            <p:nvPr/>
          </p:nvGrpSpPr>
          <p:grpSpPr>
            <a:xfrm>
              <a:off x="6435810" y="2702596"/>
              <a:ext cx="1764374" cy="1735644"/>
              <a:chOff x="6435810" y="2702596"/>
              <a:chExt cx="1764374" cy="1735644"/>
            </a:xfrm>
          </p:grpSpPr>
          <p:grpSp>
            <p:nvGrpSpPr>
              <p:cNvPr id="103" name="Google Shape;103;p17"/>
              <p:cNvGrpSpPr/>
              <p:nvPr/>
            </p:nvGrpSpPr>
            <p:grpSpPr>
              <a:xfrm rot="10800000">
                <a:off x="6760035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04" name="Google Shape;104;p17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05" name="Google Shape;105;p17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6" name="Google Shape;106;p17"/>
              <p:cNvSpPr txBox="1"/>
              <p:nvPr/>
            </p:nvSpPr>
            <p:spPr>
              <a:xfrm>
                <a:off x="6435810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" sz="1200">
                    <a:latin typeface="Roboto"/>
                    <a:ea typeface="Roboto"/>
                    <a:cs typeface="Roboto"/>
                    <a:sym typeface="Roboto"/>
                  </a:rPr>
                  <a:t>2015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7" name="Google Shape;107;p17"/>
              <p:cNvSpPr txBox="1"/>
              <p:nvPr/>
            </p:nvSpPr>
            <p:spPr>
              <a:xfrm>
                <a:off x="6676784" y="3494441"/>
                <a:ext cx="15234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latin typeface="Roboto"/>
                    <a:ea typeface="Roboto"/>
                    <a:cs typeface="Roboto"/>
                    <a:sym typeface="Roboto"/>
                  </a:rPr>
                  <a:t>Microsoft VSCode released offering lightweight editor with highly extensible ecosystem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t/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08" name="Google Shape;108;p17"/>
          <p:cNvGrpSpPr/>
          <p:nvPr/>
        </p:nvGrpSpPr>
        <p:grpSpPr>
          <a:xfrm>
            <a:off x="425891" y="2131625"/>
            <a:ext cx="2395009" cy="1233564"/>
            <a:chOff x="495991" y="2353099"/>
            <a:chExt cx="2395009" cy="1233564"/>
          </a:xfrm>
        </p:grpSpPr>
        <p:sp>
          <p:nvSpPr>
            <p:cNvPr id="109" name="Google Shape;109;p17"/>
            <p:cNvSpPr/>
            <p:nvPr/>
          </p:nvSpPr>
          <p:spPr>
            <a:xfrm>
              <a:off x="932600" y="3079475"/>
              <a:ext cx="1958400" cy="1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0" name="Google Shape;110;p17"/>
            <p:cNvGrpSpPr/>
            <p:nvPr/>
          </p:nvGrpSpPr>
          <p:grpSpPr>
            <a:xfrm>
              <a:off x="495991" y="2353099"/>
              <a:ext cx="1888634" cy="1233564"/>
              <a:chOff x="495991" y="2353099"/>
              <a:chExt cx="1888634" cy="1233564"/>
            </a:xfrm>
          </p:grpSpPr>
          <p:sp>
            <p:nvSpPr>
              <p:cNvPr id="111" name="Google Shape;111;p17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" sz="1200">
                    <a:latin typeface="Roboto"/>
                    <a:ea typeface="Roboto"/>
                    <a:cs typeface="Roboto"/>
                    <a:sym typeface="Roboto"/>
                  </a:rPr>
                  <a:t>1983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12" name="Google Shape;112;p17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13" name="Google Shape;113;p17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14" name="Google Shape;114;p17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5" name="Google Shape;115;p17"/>
              <p:cNvSpPr txBox="1"/>
              <p:nvPr/>
            </p:nvSpPr>
            <p:spPr>
              <a:xfrm>
                <a:off x="823125" y="2353099"/>
                <a:ext cx="1561500" cy="61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latin typeface="Roboto"/>
                    <a:ea typeface="Roboto"/>
                    <a:cs typeface="Roboto"/>
                    <a:sym typeface="Roboto"/>
                  </a:rPr>
                  <a:t>Release of Turbo Pascal, first true IDE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t/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16" name="Google Shape;116;p17"/>
          <p:cNvGrpSpPr/>
          <p:nvPr/>
        </p:nvGrpSpPr>
        <p:grpSpPr>
          <a:xfrm>
            <a:off x="2455495" y="2481122"/>
            <a:ext cx="2323757" cy="1735653"/>
            <a:chOff x="2525595" y="2702596"/>
            <a:chExt cx="2323757" cy="1735653"/>
          </a:xfrm>
        </p:grpSpPr>
        <p:sp>
          <p:nvSpPr>
            <p:cNvPr id="117" name="Google Shape;117;p17"/>
            <p:cNvSpPr/>
            <p:nvPr/>
          </p:nvSpPr>
          <p:spPr>
            <a:xfrm>
              <a:off x="2890952" y="3079475"/>
              <a:ext cx="1958400" cy="1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" name="Google Shape;118;p17"/>
            <p:cNvGrpSpPr/>
            <p:nvPr/>
          </p:nvGrpSpPr>
          <p:grpSpPr>
            <a:xfrm>
              <a:off x="2525595" y="2702596"/>
              <a:ext cx="2116455" cy="1735653"/>
              <a:chOff x="2525595" y="2702596"/>
              <a:chExt cx="2116455" cy="1735653"/>
            </a:xfrm>
          </p:grpSpPr>
          <p:sp>
            <p:nvSpPr>
              <p:cNvPr id="119" name="Google Shape;119;p17"/>
              <p:cNvSpPr txBox="1"/>
              <p:nvPr/>
            </p:nvSpPr>
            <p:spPr>
              <a:xfrm>
                <a:off x="2525595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" sz="1200">
                    <a:latin typeface="Roboto"/>
                    <a:ea typeface="Roboto"/>
                    <a:cs typeface="Roboto"/>
                    <a:sym typeface="Roboto"/>
                  </a:rPr>
                  <a:t>1997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20" name="Google Shape;120;p17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21" name="Google Shape;121;p17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22" name="Google Shape;122;p17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3" name="Google Shape;123;p17"/>
              <p:cNvSpPr txBox="1"/>
              <p:nvPr/>
            </p:nvSpPr>
            <p:spPr>
              <a:xfrm>
                <a:off x="2773350" y="3494449"/>
                <a:ext cx="1868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latin typeface="Roboto"/>
                    <a:ea typeface="Roboto"/>
                    <a:cs typeface="Roboto"/>
                    <a:sym typeface="Roboto"/>
                  </a:rPr>
                  <a:t>Microsoft Visual Studio released, offering advanced debugging capabilities for the C++/Visual Basic language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t/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124" name="Google Shape;124;p17"/>
          <p:cNvSpPr/>
          <p:nvPr/>
        </p:nvSpPr>
        <p:spPr>
          <a:xfrm>
            <a:off x="493013" y="2857700"/>
            <a:ext cx="358500" cy="13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700" y="2749800"/>
            <a:ext cx="561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1980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8544625" y="2749800"/>
            <a:ext cx="561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2030</a:t>
            </a:r>
            <a:br>
              <a:rPr lang="en" sz="1000">
                <a:latin typeface="Roboto"/>
                <a:ea typeface="Roboto"/>
                <a:cs typeface="Roboto"/>
                <a:sym typeface="Roboto"/>
              </a:rPr>
            </a:b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075" y="1295074"/>
            <a:ext cx="1250051" cy="83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1836" y="3891672"/>
            <a:ext cx="1235822" cy="83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5676" y="1135050"/>
            <a:ext cx="1305899" cy="93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0350" y="3891673"/>
            <a:ext cx="1506300" cy="7081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17"/>
          <p:cNvGrpSpPr/>
          <p:nvPr/>
        </p:nvGrpSpPr>
        <p:grpSpPr>
          <a:xfrm>
            <a:off x="7580779" y="2045900"/>
            <a:ext cx="1704271" cy="1309754"/>
            <a:chOff x="4526679" y="2276899"/>
            <a:chExt cx="1704271" cy="1309754"/>
          </a:xfrm>
        </p:grpSpPr>
        <p:grpSp>
          <p:nvGrpSpPr>
            <p:cNvPr id="132" name="Google Shape;132;p17"/>
            <p:cNvGrpSpPr/>
            <p:nvPr/>
          </p:nvGrpSpPr>
          <p:grpSpPr>
            <a:xfrm>
              <a:off x="4808316" y="2800065"/>
              <a:ext cx="92400" cy="411825"/>
              <a:chOff x="845575" y="2563700"/>
              <a:chExt cx="92400" cy="411825"/>
            </a:xfrm>
          </p:grpSpPr>
          <p:cxnSp>
            <p:nvCxnSpPr>
              <p:cNvPr id="133" name="Google Shape;133;p17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4" name="Google Shape;134;p17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5" name="Google Shape;135;p17"/>
            <p:cNvSpPr txBox="1"/>
            <p:nvPr/>
          </p:nvSpPr>
          <p:spPr>
            <a:xfrm>
              <a:off x="4526679" y="3215253"/>
              <a:ext cx="692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2023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" name="Google Shape;136;p17"/>
            <p:cNvSpPr txBox="1"/>
            <p:nvPr/>
          </p:nvSpPr>
          <p:spPr>
            <a:xfrm>
              <a:off x="4724650" y="2276899"/>
              <a:ext cx="15063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Roboto"/>
                  <a:ea typeface="Roboto"/>
                  <a:cs typeface="Roboto"/>
                  <a:sym typeface="Roboto"/>
                </a:rPr>
                <a:t>Cursor released, one of the first widely used AI native IDEs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37" name="Google Shape;137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27093" y="1157495"/>
            <a:ext cx="1250048" cy="9135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17"/>
          <p:cNvCxnSpPr/>
          <p:nvPr/>
        </p:nvCxnSpPr>
        <p:spPr>
          <a:xfrm>
            <a:off x="3552700" y="2631016"/>
            <a:ext cx="0" cy="35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Usage</a:t>
            </a:r>
            <a:endParaRPr/>
          </a:p>
        </p:txBody>
      </p:sp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Bread-and-butter modes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Inline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Function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Single-file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Multi-file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True AI-native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Background agents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MCP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Learn memories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Bugbot (PR review)</a:t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see some of this in action</a:t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/>
          <p:nvPr/>
        </p:nvSpPr>
        <p:spPr>
          <a:xfrm>
            <a:off x="5138175" y="702225"/>
            <a:ext cx="2703300" cy="1264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0"/>
          <p:cNvSpPr txBox="1"/>
          <p:nvPr>
            <p:ph type="title"/>
          </p:nvPr>
        </p:nvSpPr>
        <p:spPr>
          <a:xfrm>
            <a:off x="311700" y="12951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an AI IDE works under-the-hood</a:t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63" name="Google Shape;163;p20" title="Screenshot 2025-09-10 at 12.00.3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5275" y="702237"/>
            <a:ext cx="2533099" cy="392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/>
          <p:nvPr/>
        </p:nvSpPr>
        <p:spPr>
          <a:xfrm>
            <a:off x="1825275" y="702225"/>
            <a:ext cx="2496300" cy="1264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5823975" y="654378"/>
            <a:ext cx="13317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Tab-complete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5007925" y="933000"/>
            <a:ext cx="291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Small context window around current code is encrypted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Server receives and runs infilling LLM 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Suggestion sent back and displayed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1822419" y="1985625"/>
            <a:ext cx="2496300" cy="4467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1818250" y="2450800"/>
            <a:ext cx="2496300" cy="8715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1818250" y="3333325"/>
            <a:ext cx="2496300" cy="6858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820713" y="4047450"/>
            <a:ext cx="2496300" cy="5727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5138175" y="2073825"/>
            <a:ext cx="2703300" cy="2120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6157128" y="2025975"/>
            <a:ext cx="675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Chat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007925" y="2304600"/>
            <a:ext cx="291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Store code chunks as embeddings in semantic index on server (obfuscated filename + code)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Any query retrieves most relevant chunks and feeds as context into LLM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IDE regularly re-index code chunks and syncs embeddings 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Chunk diffs are computed via Merkle trees for efficient updates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simple changes you don’t have to be too thoughtful about prompting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more complex tasks, you’re </a:t>
            </a:r>
            <a:r>
              <a:rPr lang="en"/>
              <a:t>going</a:t>
            </a:r>
            <a:r>
              <a:rPr lang="en"/>
              <a:t> to become a product manager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Carefully crafted specs doc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1" name="Google Shape;18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Goal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is the purpose of the change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Definitions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prereqs does the LLM need to know about the problem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Plan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High-level implementation breakdown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Source files being changed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parts of the codebase are relevant and why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Test cases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How will testing be done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Edge cases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special cases need to be accounted for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Out-of-scope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should *not* be changed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Extensions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changes will be relevant later so the LLM can future-proof its design and not take shortcuts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9" name="Google Shape;18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see some of this in action</a:t>
            </a: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50"/>
              <a:t>Optimize your codebase so that a human and an agent could understand what’s going on</a:t>
            </a:r>
            <a:endParaRPr sz="1850"/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50"/>
              <a:t>Much of LLM confusion comes from trying to finish a task with a messy repo as context</a:t>
            </a:r>
            <a:endParaRPr sz="1850"/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50"/>
              <a:t>Provide optimal context for LLMs by describing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Repo orientation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File structure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Setup and environment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Best practices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Code style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Access patterns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APIs and contracts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i="1" lang="en" sz="1850"/>
              <a:t>All of this should be thoroughly documented</a:t>
            </a:r>
            <a:endParaRPr i="1"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 sz="1850"/>
              <a:t>Tip:</a:t>
            </a:r>
            <a:r>
              <a:rPr lang="en" sz="1850"/>
              <a:t> a monorepo design in your repo is highly encouraged</a:t>
            </a:r>
            <a:endParaRPr sz="18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5" name="Google Shape;20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 LLM navigate your codebase with agent configurations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claude.md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i="1"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i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special file that Claude automatically pulls into context when starting a conversation. This makes it an ideal place for documenting: common bash commands, core files and utility functions, code style guidelines, testing instructions.</a:t>
            </a:r>
            <a:endParaRPr i="1" sz="15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c</a:t>
            </a:r>
            <a:r>
              <a:rPr lang="en" u="sng">
                <a:solidFill>
                  <a:schemeClr val="hlink"/>
                </a:solidFill>
                <a:hlinkClick r:id="rId5"/>
              </a:rPr>
              <a:t>ursorrules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6"/>
              </a:rPr>
              <a:t>AGENTS.md</a:t>
            </a:r>
            <a:r>
              <a:rPr lang="en" u="sng">
                <a:solidFill>
                  <a:schemeClr val="hlink"/>
                </a:solidFill>
                <a:hlinkClick r:id="rId7"/>
              </a:rPr>
              <a:t> </a:t>
            </a:r>
            <a:r>
              <a:rPr lang="en"/>
              <a:t>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Open format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8"/>
              </a:rPr>
              <a:t>llms.txt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Provide that navigation guidance for LLMs scraping the web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Note:</a:t>
            </a:r>
            <a:r>
              <a:rPr lang="en"/>
              <a:t> The agents won’t always adhere to these descriptions/directives. They are intended as guidance.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13" name="Google Shape;21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20" name="Google Shape;22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Samples</a:t>
            </a:r>
            <a:endParaRPr/>
          </a:p>
        </p:txBody>
      </p:sp>
      <p:pic>
        <p:nvPicPr>
          <p:cNvPr id="221" name="Google Shape;221;p26" title="agentsm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075" y="1170125"/>
            <a:ext cx="7114014" cy="34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see some of this in action</a:t>
            </a:r>
            <a:endParaRPr/>
          </a:p>
        </p:txBody>
      </p:sp>
      <p:sp>
        <p:nvSpPr>
          <p:cNvPr id="227" name="Google Shape;227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9" name="Google Shape;229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