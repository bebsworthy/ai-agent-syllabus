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Recall what we did in the last class, this was like the pre-MCP days. The APIs were pretty well-formatted so getting the LLM to use them wasn’t super challenging.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want to enable your LLM to access a 3rd party API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think of all the things that could be challenging: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Poor documentation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Inconsistent data exchange formats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Authentication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Error handling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onus is on your to interpret all of those factors for this API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3ca004c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c3ca004c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having to do that for 100s of APIs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3ca004c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3ca004c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integrating many LLM apps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It’s a mess: NxM </a:t>
            </a:r>
            <a:r>
              <a:rPr lang="en"/>
              <a:t>connectors</a:t>
            </a:r>
            <a:r>
              <a:rPr lang="en"/>
              <a:t> across LLM apps and API integration points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c3ca004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c3ca004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c3ca004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c3ca004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3ca004c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c3ca004c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list_files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edit_file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You can see the tool being called by the MCP server, though we have to be a bit more explicit about mentioning what server to use since there are a lot of tools. 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Mitigations: https://arxiv.org/pdf/2505.03275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c53c6a7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c53c6a7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ea7c0ae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ea7c0ae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1" Type="http://schemas.openxmlformats.org/officeDocument/2006/relationships/image" Target="../media/image14.png"/><Relationship Id="rId10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6.png"/><Relationship Id="rId8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11" Type="http://schemas.openxmlformats.org/officeDocument/2006/relationships/image" Target="../media/image3.png"/><Relationship Id="rId10" Type="http://schemas.openxmlformats.org/officeDocument/2006/relationships/image" Target="../media/image15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MCP and Beyond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have vast (but static) world knowledge that only updates when we retrain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build fully autonomous systems we need robust ways to feed dynamic data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weather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president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price of Bitcoin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the narrator in Nike’s latest ad campaign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RAG and tool-calling are the best answer we have today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</a:t>
            </a:r>
            <a:r>
              <a:rPr lang="en"/>
              <a:t>odel </a:t>
            </a:r>
            <a:r>
              <a:rPr b="1" lang="en"/>
              <a:t>C</a:t>
            </a:r>
            <a:r>
              <a:rPr lang="en"/>
              <a:t>ontext </a:t>
            </a:r>
            <a:r>
              <a:rPr b="1" lang="en"/>
              <a:t>P</a:t>
            </a:r>
            <a:r>
              <a:rPr lang="en"/>
              <a:t>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Open protocol that allows systems to provide context to AI models in a manner generalizable across integrations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 English: standard format for exposing tools to LLMs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History: in the distant past pre-November 2024 when MCP was introduced…</a:t>
            </a:r>
            <a:endParaRPr sz="1800"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3693572" y="872069"/>
            <a:ext cx="3953100" cy="376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0" name="Google Shape;90;p17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50" y="1987594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472" y="944719"/>
            <a:ext cx="1134825" cy="6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672" y="1615919"/>
            <a:ext cx="3512426" cy="27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>
            <a:off x="2390075" y="23658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/>
          <p:nvPr/>
        </p:nvCxnSpPr>
        <p:spPr>
          <a:xfrm rot="10800000">
            <a:off x="2364835" y="25182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7"/>
          <p:cNvSpPr txBox="1"/>
          <p:nvPr/>
        </p:nvSpPr>
        <p:spPr>
          <a:xfrm>
            <a:off x="2602625" y="2492998"/>
            <a:ext cx="568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156300" y="2034794"/>
            <a:ext cx="1563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APIs do you expose?</a:t>
            </a:r>
            <a:endParaRPr b="1" i="1"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integrating with a questionable 3rd party API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253750" y="8639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5" name="Google Shape;105;p18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00" y="22347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01" y="892348"/>
            <a:ext cx="443192" cy="24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8927" y="1154478"/>
            <a:ext cx="1371744" cy="1073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8"/>
          <p:cNvCxnSpPr/>
          <p:nvPr/>
        </p:nvCxnSpPr>
        <p:spPr>
          <a:xfrm flipH="1" rot="10800000">
            <a:off x="1932875" y="1744244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/>
          <p:nvPr/>
        </p:nvCxnSpPr>
        <p:spPr>
          <a:xfrm flipH="1">
            <a:off x="1907700" y="188945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8"/>
          <p:cNvSpPr txBox="1"/>
          <p:nvPr/>
        </p:nvSpPr>
        <p:spPr>
          <a:xfrm>
            <a:off x="2395750" y="1682163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APIs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274445" y="28451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8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9882" y="3123050"/>
            <a:ext cx="1312925" cy="112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0351" y="2897647"/>
            <a:ext cx="168899" cy="1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6331845" y="1738002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8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6599" y="2035100"/>
            <a:ext cx="1186612" cy="10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89326" y="1740146"/>
            <a:ext cx="443200" cy="2949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8"/>
          <p:cNvCxnSpPr/>
          <p:nvPr/>
        </p:nvCxnSpPr>
        <p:spPr>
          <a:xfrm>
            <a:off x="1976777" y="3028047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/>
          <p:nvPr/>
        </p:nvCxnSpPr>
        <p:spPr>
          <a:xfrm rot="10800000">
            <a:off x="1951602" y="287564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8"/>
          <p:cNvSpPr txBox="1"/>
          <p:nvPr/>
        </p:nvSpPr>
        <p:spPr>
          <a:xfrm>
            <a:off x="2819152" y="28346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>
            <a:off x="2152987" y="2723725"/>
            <a:ext cx="391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 rot="10800000">
            <a:off x="2104075" y="2571325"/>
            <a:ext cx="398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8"/>
          <p:cNvSpPr txBox="1"/>
          <p:nvPr/>
        </p:nvSpPr>
        <p:spPr>
          <a:xfrm>
            <a:off x="3433775" y="22389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1" name="Google Shape;131;p19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9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 flipH="1" rot="10800000">
            <a:off x="2999675" y="1057844"/>
            <a:ext cx="22164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/>
          <p:nvPr/>
        </p:nvCxnSpPr>
        <p:spPr>
          <a:xfrm flipH="1">
            <a:off x="2974550" y="1235400"/>
            <a:ext cx="2249700" cy="12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LLM apps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19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9"/>
          <p:cNvCxnSpPr/>
          <p:nvPr/>
        </p:nvCxnSpPr>
        <p:spPr>
          <a:xfrm>
            <a:off x="3043577" y="3028047"/>
            <a:ext cx="2132100" cy="10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9"/>
          <p:cNvCxnSpPr/>
          <p:nvPr/>
        </p:nvCxnSpPr>
        <p:spPr>
          <a:xfrm rot="10800000">
            <a:off x="3018375" y="2875550"/>
            <a:ext cx="2100900" cy="10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19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9"/>
          <p:cNvCxnSpPr/>
          <p:nvPr/>
        </p:nvCxnSpPr>
        <p:spPr>
          <a:xfrm>
            <a:off x="3010262" y="40625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9"/>
          <p:cNvCxnSpPr/>
          <p:nvPr/>
        </p:nvCxnSpPr>
        <p:spPr>
          <a:xfrm rot="10800000">
            <a:off x="2984983" y="39100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19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/>
          <p:nvPr/>
        </p:nvCxnSpPr>
        <p:spPr>
          <a:xfrm>
            <a:off x="3011278" y="27671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9"/>
          <p:cNvCxnSpPr/>
          <p:nvPr/>
        </p:nvCxnSpPr>
        <p:spPr>
          <a:xfrm rot="10800000">
            <a:off x="2986000" y="26146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3010262" y="1616074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9"/>
          <p:cNvCxnSpPr/>
          <p:nvPr/>
        </p:nvCxnSpPr>
        <p:spPr>
          <a:xfrm rot="10800000">
            <a:off x="2984983" y="1463575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9"/>
          <p:cNvCxnSpPr/>
          <p:nvPr/>
        </p:nvCxnSpPr>
        <p:spPr>
          <a:xfrm>
            <a:off x="3033469" y="1920874"/>
            <a:ext cx="2113500" cy="5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9"/>
          <p:cNvCxnSpPr/>
          <p:nvPr/>
        </p:nvCxnSpPr>
        <p:spPr>
          <a:xfrm rot="10800000">
            <a:off x="3008200" y="1768350"/>
            <a:ext cx="21540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3046089" y="1828525"/>
            <a:ext cx="2154000" cy="16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9"/>
          <p:cNvCxnSpPr/>
          <p:nvPr/>
        </p:nvCxnSpPr>
        <p:spPr>
          <a:xfrm rot="10800000">
            <a:off x="3020850" y="1676050"/>
            <a:ext cx="2171100" cy="16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9"/>
          <p:cNvCxnSpPr/>
          <p:nvPr/>
        </p:nvCxnSpPr>
        <p:spPr>
          <a:xfrm flipH="1" rot="10800000">
            <a:off x="2994113" y="3011974"/>
            <a:ext cx="2189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/>
          <p:nvPr/>
        </p:nvCxnSpPr>
        <p:spPr>
          <a:xfrm flipH="1">
            <a:off x="2968700" y="2858400"/>
            <a:ext cx="22071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9"/>
          <p:cNvCxnSpPr/>
          <p:nvPr/>
        </p:nvCxnSpPr>
        <p:spPr>
          <a:xfrm flipH="1" rot="10800000">
            <a:off x="2977963" y="1865150"/>
            <a:ext cx="2189700" cy="17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9"/>
          <p:cNvCxnSpPr/>
          <p:nvPr/>
        </p:nvCxnSpPr>
        <p:spPr>
          <a:xfrm flipH="1">
            <a:off x="2952550" y="1703725"/>
            <a:ext cx="2207100" cy="17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MCP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Does away with the need to build M x N connectors from LLM host/agent to underlying tool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Don’t need to reimplement auth, error handling, rate-limiting, etc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Enforces consistent output format using JSON-RPC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Extends from Language Server Protocols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Allows for proactive agentic workflows rather than purely reactive ones as in LSP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Integrating with tools goes from M x N </a:t>
            </a:r>
            <a:r>
              <a:rPr lang="en" sz="1950">
                <a:solidFill>
                  <a:schemeClr val="dk1"/>
                </a:solidFill>
              </a:rPr>
              <a:t>→</a:t>
            </a:r>
            <a:r>
              <a:rPr lang="en" sz="1600"/>
              <a:t>M + N connectors</a:t>
            </a:r>
            <a:endParaRPr sz="1600"/>
          </a:p>
        </p:txBody>
      </p:sp>
      <p:sp>
        <p:nvSpPr>
          <p:cNvPr id="167" name="Google Shape;16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A Bit Deeper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Host</a:t>
            </a:r>
            <a:r>
              <a:rPr lang="en"/>
              <a:t>: Cursor, Claude Desktop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Client</a:t>
            </a:r>
            <a:r>
              <a:rPr lang="en"/>
              <a:t>: Library embedded on host (stateful session per server)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Server</a:t>
            </a:r>
            <a:r>
              <a:rPr lang="en"/>
              <a:t>: Lightweight wrapper in front of a tool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Tool</a:t>
            </a:r>
            <a:r>
              <a:rPr lang="en"/>
              <a:t>: Callable function (could be data source, 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 calls tools/list to MCP server (what can you do?)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returns JSON describing each tool (name, summary, JSON schema)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 injects that JSON into model’s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prompt triggers model, emitting a structured tool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server executes and conversation resumes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provides stdio and SSE transport layer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24" y="1865153"/>
            <a:ext cx="510112" cy="5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24" y="2375266"/>
            <a:ext cx="510111" cy="51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1394484"/>
            <a:ext cx="399045" cy="3990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2973350" y="1226300"/>
            <a:ext cx="5805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9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100" y="1854148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2857014" y="914150"/>
            <a:ext cx="696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client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2"/>
          <p:cNvSpPr/>
          <p:nvPr/>
        </p:nvSpPr>
        <p:spPr>
          <a:xfrm flipH="1">
            <a:off x="1434600" y="1196778"/>
            <a:ext cx="1125000" cy="5811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502225" y="1243653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Summarize my emails from Jack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872900" y="1226300"/>
            <a:ext cx="8406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537" y="1339001"/>
            <a:ext cx="466650" cy="3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10800000">
            <a:off x="6067526" y="1835423"/>
            <a:ext cx="466648" cy="55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00" y="2500775"/>
            <a:ext cx="466650" cy="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919877" y="914150"/>
            <a:ext cx="80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server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699" y="1280588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1936452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2484820"/>
            <a:ext cx="389325" cy="3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2"/>
          <p:cNvCxnSpPr/>
          <p:nvPr/>
        </p:nvCxnSpPr>
        <p:spPr>
          <a:xfrm>
            <a:off x="6939300" y="1433350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2"/>
          <p:cNvCxnSpPr/>
          <p:nvPr/>
        </p:nvCxnSpPr>
        <p:spPr>
          <a:xfrm rot="10800000">
            <a:off x="6939300" y="1539826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2"/>
          <p:cNvCxnSpPr/>
          <p:nvPr/>
        </p:nvCxnSpPr>
        <p:spPr>
          <a:xfrm>
            <a:off x="6916075" y="20927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2"/>
          <p:cNvCxnSpPr/>
          <p:nvPr/>
        </p:nvCxnSpPr>
        <p:spPr>
          <a:xfrm rot="10800000">
            <a:off x="6916075" y="219923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2"/>
          <p:cNvCxnSpPr/>
          <p:nvPr/>
        </p:nvCxnSpPr>
        <p:spPr>
          <a:xfrm>
            <a:off x="6927700" y="264568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2"/>
          <p:cNvCxnSpPr/>
          <p:nvPr/>
        </p:nvCxnSpPr>
        <p:spPr>
          <a:xfrm rot="10800000">
            <a:off x="6927700" y="27521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5" name="Google Shape;205;p22" title="Screenshot 2025-09-04 at 10.41.08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35805" y="3467125"/>
            <a:ext cx="655746" cy="63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2"/>
          <p:cNvCxnSpPr/>
          <p:nvPr/>
        </p:nvCxnSpPr>
        <p:spPr>
          <a:xfrm>
            <a:off x="1970325" y="1977459"/>
            <a:ext cx="7347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2"/>
          <p:cNvSpPr txBox="1"/>
          <p:nvPr/>
        </p:nvSpPr>
        <p:spPr>
          <a:xfrm>
            <a:off x="2238200" y="1701947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016250" y="1935773"/>
            <a:ext cx="696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Ask query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>
            <a:off x="3722925" y="1398475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2"/>
          <p:cNvSpPr txBox="1"/>
          <p:nvPr/>
        </p:nvSpPr>
        <p:spPr>
          <a:xfrm>
            <a:off x="4600400" y="1122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454649" y="1463091"/>
            <a:ext cx="696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Get tools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 rot="10800000">
            <a:off x="3699283" y="1489643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676661" y="2706572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2"/>
          <p:cNvCxnSpPr/>
          <p:nvPr/>
        </p:nvCxnSpPr>
        <p:spPr>
          <a:xfrm>
            <a:off x="3202799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2"/>
          <p:cNvCxnSpPr/>
          <p:nvPr/>
        </p:nvCxnSpPr>
        <p:spPr>
          <a:xfrm rot="10800000">
            <a:off x="3324583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22"/>
          <p:cNvSpPr txBox="1"/>
          <p:nvPr/>
        </p:nvSpPr>
        <p:spPr>
          <a:xfrm>
            <a:off x="2954956" y="3027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3387850" y="3032675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query and pick tool with params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3669007" y="2607750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2"/>
          <p:cNvSpPr txBox="1"/>
          <p:nvPr/>
        </p:nvSpPr>
        <p:spPr>
          <a:xfrm>
            <a:off x="4600400" y="2265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3851928" y="2683283"/>
            <a:ext cx="1922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Call function for tool and get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 rot="10800000">
            <a:off x="1970402" y="2435484"/>
            <a:ext cx="7194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2"/>
          <p:cNvSpPr txBox="1"/>
          <p:nvPr/>
        </p:nvSpPr>
        <p:spPr>
          <a:xfrm>
            <a:off x="1947025" y="2414201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2230321" y="2142442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custom MCP server from scratch!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Agents don’t handle many tools very well today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 eat up your context window quickly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APIs to be AI-native rather that rigid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125700" y="1920075"/>
            <a:ext cx="28926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