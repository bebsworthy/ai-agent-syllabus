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C21DFF-D38A-4F2B-B84B-658A9B7B63E3}">
  <a:tblStyle styleId="{F4C21DFF-D38A-4F2B-B84B-658A9B7B63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Welcome to english 170 - structured writing for professionals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Jokes! It’s 8:30 am after all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as we’ll see this class we will spend a lot of time learning to write well-structured english prose, more than sophisticated fancy 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way that software engineering is evolving as we </a:t>
            </a:r>
            <a:r>
              <a:rPr lang="en"/>
              <a:t>learn to interact with modern AI systems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whom is this your first class of the quarter? First class at Stanford? Exciting, you’ll either walk out of this thinking I’m so lucky to be @ Stanford, or when’s the deadline for me to get refunded on my tuition?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54390a96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54390a96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Today I’ll given an overview for what the structure and topics of the course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 we’ll spend some time doing a how the sausage is made for LLMs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most “AI”-ey lecture we’ll have all quarter so stick with me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b974b8d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b974b8d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generative AI revolution is poised to revolutionize just about every industry out there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New headlines come up every day about the advances that have been made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Huge capital investment from major tech corporations, it is likely the closest we have been to AGI in human history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the 13 years I’ve been </a:t>
            </a:r>
            <a:r>
              <a:rPr lang="en"/>
              <a:t>doing</a:t>
            </a:r>
            <a:r>
              <a:rPr lang="en"/>
              <a:t> AI, the excitement level for the field is higher than it’s ever been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b974b8d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b974b8d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for software, there are some hard truths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 going to mince words, software engineering as an industry is getting shaken - we’re experiencing a huge overhaul for the entire ecosystem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20% drop in enrollment for this major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only professions with higher unemployment rate: </a:t>
            </a:r>
            <a:r>
              <a:rPr lang="en"/>
              <a:t>graphic</a:t>
            </a:r>
            <a:r>
              <a:rPr lang="en"/>
              <a:t> design (hello midjourney/veo3), chemistry (have you ever met a chemist?), anthropology (no one’s paying to find out how humans descended from homo habilis)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b974b8d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b974b8d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there is some good news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Students learning CS today have the potential to be an order of magnitude better than I was when I was learning.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Part of the software engineering identity crisis is about asking ourselves what it really means to be a developer?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your only value add is knowing how to copy-paste from Stackoverflow then you will be replaced by AI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you think in terms of systems, understand business context, think through resilient architectures and abstractions, AI will strap a rocket to your back in terms of productivity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promise I will teach you the state-of-the-art in how to use AI in software development today. This will make you irreplaceable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9dc37a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9dc37a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b974b8d4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b974b8d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want to set expectation upfront to scare off the GSB students. This is not the vibe coding class.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Vibe </a:t>
            </a:r>
            <a:r>
              <a:rPr lang="en"/>
              <a:t>coding</a:t>
            </a:r>
            <a:r>
              <a:rPr lang="en"/>
              <a:t> has different definitions but the standard one of just YOLO-ing and tab-accepting AI code is not the focus here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I’ll tell you why: vibe coding is just not good enough to truly build good software. Hard to predict but we’re likely 2-10+ years away from that being a viable way to build robust production-level software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Again t</a:t>
            </a:r>
            <a:r>
              <a:rPr lang="en">
                <a:solidFill>
                  <a:schemeClr val="dk1"/>
                </a:solidFill>
              </a:rPr>
              <a:t>his is not a class to teach non-technical users how to not have to hire developers.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a class for fairly experienced engineers to truly become 10x engineers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19bd91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19bd91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9dc37a6f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9dc37a6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My alternative to vibe coding: human-agent engineering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These days bad code is both architecturally wrong </a:t>
            </a:r>
            <a:r>
              <a:rPr lang="en"/>
              <a:t>decisions</a:t>
            </a:r>
            <a:r>
              <a:rPr lang="en"/>
              <a:t> but also functionally incorrect software (from hallucinating LLMs)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54390a96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54390a96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Tools will go out of date. I won’t be too prescriptive here. This class will evolve just as the field is evolving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b974b8d4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b974b8d4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54390a96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54390a96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Elephant in the room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Unlikely that we’ll be able to significantly increase enrollment cap (not my call)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it were up to me everyone would be allowed in and we’d be teaching this class in the Stanford football stadium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you’re #45 on the waitlist perhaps you’ll get lucky and people will be so turned off </a:t>
            </a:r>
            <a:r>
              <a:rPr lang="en"/>
              <a:t>after this lecture that you get in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We’ll try to get a larger space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 lecture materials on </a:t>
            </a:r>
            <a:r>
              <a:rPr lang="en"/>
              <a:t>official</a:t>
            </a:r>
            <a:r>
              <a:rPr lang="en"/>
              <a:t> course page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Additional reading will be there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Links to assignments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Joke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Who here has used AI coding tools?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ChatGPT?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Who has used ChatGPT to cheat on an assignment? [GET THEM!]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are assignments are meant to be done using coding assignments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Assignments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Mainly in python and javascript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</a:t>
            </a:r>
            <a:r>
              <a:rPr lang="en"/>
              <a:t>should</a:t>
            </a:r>
            <a:r>
              <a:rPr lang="en"/>
              <a:t> really have familiarity with this, so if you’re going to write messages in Ed asking for how to install python on your machine this isn’t the class for you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Quite a bit of software experience is necessary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Don’t worry too much about grades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Assignments are more about completion rather than correctness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Much of it will be about experimentation - I will give you parameters and invite you to explore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Description of final project will go out later today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students that are enrolled in the class will get access to many credits from different AI dev tool providers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b974b8d4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b974b8d4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9b09f2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99b09f2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Only math equation of the quarter. This equation explains why “context length” is such an important concept in LLMs (also to scare away the GSB students)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4390a96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54390a96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Causal self-attention mechanism - internal mathematical mechanism that helps the model learn </a:t>
            </a:r>
            <a:r>
              <a:rPr lang="en"/>
              <a:t>relationships</a:t>
            </a:r>
            <a:r>
              <a:rPr lang="en"/>
              <a:t> between words, syntactically and semantically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Tokenization is a bit more complicated (tokens that are embedded aren’t always full english words)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At the end every words is just a probability in a table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99b09f2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99b09f2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GPT-3 (OpenAI)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~300 billion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Sources included Common Crawl, WebText2, Books1/2, and Wikipedia.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Roughly </a:t>
            </a:r>
            <a:r>
              <a:rPr b="1" lang="en">
                <a:solidFill>
                  <a:schemeClr val="dk1"/>
                </a:solidFill>
              </a:rPr>
              <a:t>570 GB of clean text data</a:t>
            </a:r>
            <a:r>
              <a:rPr lang="en">
                <a:solidFill>
                  <a:schemeClr val="dk1"/>
                </a:solidFill>
              </a:rPr>
              <a:t> after filtering and deduplication.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PaLM (Google, 2022)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780 billion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Mixture of web documents, books, Wikipedia, and GitHub code.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LLaMA (Meta,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LLaMA-65B: </a:t>
            </a:r>
            <a:r>
              <a:rPr b="1" lang="en">
                <a:solidFill>
                  <a:schemeClr val="dk1"/>
                </a:solidFill>
              </a:rPr>
              <a:t>1.4 trillion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Mix of Common Crawl, GitHub, Wikipedia, ArXiv, StackExchange, and books.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 Code-Specific Models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Codex (OpenAI, 2021)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Based on GPT-3, further pretrained on </a:t>
            </a:r>
            <a:r>
              <a:rPr b="1" lang="en">
                <a:solidFill>
                  <a:schemeClr val="dk1"/>
                </a:solidFill>
              </a:rPr>
              <a:t>tens of billions of code tokens</a:t>
            </a:r>
            <a:r>
              <a:rPr lang="en">
                <a:solidFill>
                  <a:schemeClr val="dk1"/>
                </a:solidFill>
              </a:rPr>
              <a:t> from public GitHub repositories.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Exact size not disclosed, but estimates put it around </a:t>
            </a:r>
            <a:r>
              <a:rPr b="1" lang="en">
                <a:solidFill>
                  <a:schemeClr val="dk1"/>
                </a:solidFill>
              </a:rPr>
              <a:t>150+ GB of code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Code LLaMA (Meta,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Built on LLaMA-2, trained on </a:t>
            </a:r>
            <a:r>
              <a:rPr b="1" lang="en">
                <a:solidFill>
                  <a:schemeClr val="dk1"/>
                </a:solidFill>
              </a:rPr>
              <a:t>500 billion code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Sources: GitHub, StackOverflow, coding tutorials, and filtered high-quality code corpora.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StarCoder (HuggingFace + ServiceNow,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1 trillion tokens total</a:t>
            </a:r>
            <a:r>
              <a:rPr lang="en">
                <a:solidFill>
                  <a:schemeClr val="dk1"/>
                </a:solidFill>
              </a:rPr>
              <a:t>, with a large fraction being </a:t>
            </a:r>
            <a:r>
              <a:rPr b="1" lang="en">
                <a:solidFill>
                  <a:schemeClr val="dk1"/>
                </a:solidFill>
              </a:rPr>
              <a:t>over 600+ programming languages</a:t>
            </a:r>
            <a:r>
              <a:rPr lang="en">
                <a:solidFill>
                  <a:schemeClr val="dk1"/>
                </a:solidFill>
              </a:rPr>
              <a:t> from The Stack dataset.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About </a:t>
            </a:r>
            <a:r>
              <a:rPr b="1" lang="en">
                <a:solidFill>
                  <a:schemeClr val="dk1"/>
                </a:solidFill>
              </a:rPr>
              <a:t>3.1 TB of source code</a:t>
            </a:r>
            <a:r>
              <a:rPr lang="en">
                <a:solidFill>
                  <a:schemeClr val="dk1"/>
                </a:solidFill>
              </a:rPr>
              <a:t> after filtering.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reference English wikipedia is about 3B tokens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54390a961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54390a961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Reasoning models are typically the ones that say “-think” in the model name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LLMs are trained to have “special” </a:t>
            </a:r>
            <a:r>
              <a:rPr lang="en"/>
              <a:t>capabilities</a:t>
            </a:r>
            <a:r>
              <a:rPr lang="en"/>
              <a:t> like the ability to generate relevant functions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54390a96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54390a96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Hallucinations seem more prominent in languages that are less well-represented in public code corpora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Context windows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primacy/recency bias (recency ends up still being strong)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Lost-in-the-middle effect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Latency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Thinking through how to organize your </a:t>
            </a:r>
            <a:r>
              <a:rPr lang="en"/>
              <a:t>work so that you are maximizing your thinking utilization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 lot of human context switching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Still pretty expensive to run LLMs at scale but that cost drops by around 10x every year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19bd913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19bd913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hemodernsoftware.dev" TargetMode="External"/><Relationship Id="rId4" Type="http://schemas.openxmlformats.org/officeDocument/2006/relationships/hyperlink" Target="https://github.com/mihail911/modern-software-dev-assignment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Writing for Professionals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170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62" name="Google Shape;62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How LLMs are Made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2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World: 2025 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1" name="Google Shape;81;p16" title="Screenshot 2025-08-28 at 11.56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00" y="1051525"/>
            <a:ext cx="4248850" cy="12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5-08-29 at 11.27.5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600" y="2533450"/>
            <a:ext cx="4412950" cy="16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Screenshot 2025-08-29 at 11.34.3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475" y="1374677"/>
            <a:ext cx="3827099" cy="8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Screenshot 2025-08-29 at 11.36.44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050" y="3001263"/>
            <a:ext cx="4412949" cy="542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650" y="18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News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3" name="Google Shape;93;p17" title="anthropic_ceo.png"/>
          <p:cNvPicPr preferRelativeResize="0"/>
          <p:nvPr/>
        </p:nvPicPr>
        <p:blipFill rotWithShape="1">
          <a:blip r:embed="rId3">
            <a:alphaModFix/>
          </a:blip>
          <a:srcRect b="0" l="0" r="0" t="18943"/>
          <a:stretch/>
        </p:blipFill>
        <p:spPr>
          <a:xfrm>
            <a:off x="266200" y="2132725"/>
            <a:ext cx="4572000" cy="6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jeff_dean_cod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358" y="3325921"/>
            <a:ext cx="500947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windsur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200" y="1045400"/>
            <a:ext cx="4881775" cy="51387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928800" y="1453600"/>
            <a:ext cx="17262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Windsurf team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7" name="Google Shape;97;p17" title="cse_unemploym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3919" y="759150"/>
            <a:ext cx="3549730" cy="37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News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</a:t>
            </a:r>
            <a:r>
              <a:rPr lang="en"/>
              <a:t>developers</a:t>
            </a:r>
            <a:r>
              <a:rPr lang="en"/>
              <a:t> have the potential to be more productive than they have ever been in history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AI coding an engineer can pick up tech stacks and tools at an unprecedented 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won’t be replaced by AI. You’ll be replaced by a competent engineer who knows how to use AI. 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889500" y="1999050"/>
            <a:ext cx="825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>
                <a:latin typeface="Roboto"/>
                <a:ea typeface="Roboto"/>
                <a:cs typeface="Roboto"/>
                <a:sym typeface="Roboto"/>
              </a:rPr>
              <a:t>This is </a:t>
            </a:r>
            <a:r>
              <a:rPr b="1" lang="en" sz="3920"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" sz="3920"/>
              <a:t>“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vibe coding</a:t>
            </a:r>
            <a:r>
              <a:rPr lang="en" sz="3920"/>
              <a:t>”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 class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2301823" y="2061225"/>
            <a:ext cx="488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900"/>
              <a:t> 10 weeks in 2 slides</a:t>
            </a:r>
            <a:endParaRPr sz="3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Takeaway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Human-agent engineering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Focus on the skills that are not yet replaced by AI systems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Business understanding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Become the tech lead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only as good as you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Good context leads to good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can’t understand your codebase, neither will an LLM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Takeaway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Read and review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 lot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of code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Learn to discern good from bad, wrong software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 good taste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Experiment aggressively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There are no established software patterns yet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Everyone is still figuring it out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class will introduce many workflows and tools - figure out what works for 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bit about 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Stanford undergrad/grad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Head of AI at a stealth startup in the sales 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 first LLMs at Amazon Alexa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Founded and sold an ML education startup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Founded a YC-backed AI coding company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awesome 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Febie Lin</a:t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675" y="180642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5317" y="1806425"/>
            <a:ext cx="894660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 title="Screenshot 2025-09-21 at 12.58.5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6850" y="1810500"/>
            <a:ext cx="572700" cy="56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2621" y="2810550"/>
            <a:ext cx="37583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4992" y="2810550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https://themodernsoftware.dev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Mon/Fri 8:30-9:20 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Deliverables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9 assignments (1x/week) focusing on lecture material practice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https://github.com/mihail911/modern-software-dev-assignments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final open-ended project in which you will exercise AI coding principles we cover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80/15/5 breakdown for project/assignments/participation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pretty awesome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Guest lectures from founders leading top AI developer startups today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$100s of millions raised, billions in 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miss these talks!</a:t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451125" y="1922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40"/>
              <a:t>How LLMs Work in 5 Slides </a:t>
            </a:r>
            <a:endParaRPr sz="34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40"/>
              <a:t>(</a:t>
            </a:r>
            <a:r>
              <a:rPr lang="en" sz="3440"/>
              <a:t>For Engineers)</a:t>
            </a:r>
            <a:endParaRPr sz="3440"/>
          </a:p>
        </p:txBody>
      </p:sp>
      <p:sp>
        <p:nvSpPr>
          <p:cNvPr id="177" name="Google Shape;177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17100"/>
            <a:ext cx="8520600" cy="20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(large language models) are autoregressive models for next-token prediction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9" name="Google Shape;189;p27" title="autoregressive_formu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525" y="2274438"/>
            <a:ext cx="37528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 title="example_autoregressi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" y="3792063"/>
            <a:ext cx="9142500" cy="342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7"/>
          <p:cNvCxnSpPr/>
          <p:nvPr/>
        </p:nvCxnSpPr>
        <p:spPr>
          <a:xfrm>
            <a:off x="4487700" y="3148563"/>
            <a:ext cx="8100" cy="56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20023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2226900" y="4114113"/>
            <a:ext cx="3558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32215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3366925" y="4114113"/>
            <a:ext cx="411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44407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4580313" y="4130263"/>
            <a:ext cx="6012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loop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56599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837950" y="4130238"/>
            <a:ext cx="411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1748350" y="3308100"/>
            <a:ext cx="4831500" cy="396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8"/>
          <p:cNvCxnSpPr/>
          <p:nvPr/>
        </p:nvCxnSpPr>
        <p:spPr>
          <a:xfrm rot="10800000">
            <a:off x="23675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8"/>
          <p:cNvCxnSpPr/>
          <p:nvPr/>
        </p:nvCxnSpPr>
        <p:spPr>
          <a:xfrm rot="10800000">
            <a:off x="35867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8"/>
          <p:cNvCxnSpPr/>
          <p:nvPr/>
        </p:nvCxnSpPr>
        <p:spPr>
          <a:xfrm rot="10800000">
            <a:off x="4805900" y="3767275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8"/>
          <p:cNvCxnSpPr/>
          <p:nvPr/>
        </p:nvCxnSpPr>
        <p:spPr>
          <a:xfrm rot="10800000">
            <a:off x="60251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8"/>
          <p:cNvSpPr txBox="1"/>
          <p:nvPr/>
        </p:nvSpPr>
        <p:spPr>
          <a:xfrm>
            <a:off x="3505600" y="3308100"/>
            <a:ext cx="1575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Embedding layer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1748350" y="1719328"/>
            <a:ext cx="4831500" cy="99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8"/>
          <p:cNvCxnSpPr/>
          <p:nvPr/>
        </p:nvCxnSpPr>
        <p:spPr>
          <a:xfrm rot="10800000">
            <a:off x="2353525" y="24812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8"/>
          <p:cNvCxnSpPr/>
          <p:nvPr/>
        </p:nvCxnSpPr>
        <p:spPr>
          <a:xfrm rot="10800000">
            <a:off x="3586700" y="24797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28"/>
          <p:cNvCxnSpPr/>
          <p:nvPr/>
        </p:nvCxnSpPr>
        <p:spPr>
          <a:xfrm rot="10800000">
            <a:off x="4791925" y="2479748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8"/>
          <p:cNvCxnSpPr/>
          <p:nvPr/>
        </p:nvCxnSpPr>
        <p:spPr>
          <a:xfrm rot="10800000">
            <a:off x="6043750" y="24797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8"/>
          <p:cNvSpPr/>
          <p:nvPr/>
        </p:nvSpPr>
        <p:spPr>
          <a:xfrm>
            <a:off x="2230225" y="213300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63400" y="211845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4668625" y="213185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5901800" y="213300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2" name="Google Shape;222;p28"/>
          <p:cNvCxnSpPr/>
          <p:nvPr/>
        </p:nvCxnSpPr>
        <p:spPr>
          <a:xfrm flipH="1" rot="10800000">
            <a:off x="2350475" y="2502775"/>
            <a:ext cx="1197000" cy="6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8"/>
          <p:cNvCxnSpPr/>
          <p:nvPr/>
        </p:nvCxnSpPr>
        <p:spPr>
          <a:xfrm flipH="1" rot="10800000">
            <a:off x="2365000" y="2524625"/>
            <a:ext cx="2386800" cy="60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8"/>
          <p:cNvCxnSpPr/>
          <p:nvPr/>
        </p:nvCxnSpPr>
        <p:spPr>
          <a:xfrm flipH="1" rot="10800000">
            <a:off x="2365000" y="2517225"/>
            <a:ext cx="3634500" cy="6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8"/>
          <p:cNvCxnSpPr/>
          <p:nvPr/>
        </p:nvCxnSpPr>
        <p:spPr>
          <a:xfrm flipH="1" rot="10800000">
            <a:off x="3598275" y="2560825"/>
            <a:ext cx="11535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8"/>
          <p:cNvCxnSpPr/>
          <p:nvPr/>
        </p:nvCxnSpPr>
        <p:spPr>
          <a:xfrm flipH="1" rot="10800000">
            <a:off x="3605525" y="2546225"/>
            <a:ext cx="2372400" cy="5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8"/>
          <p:cNvCxnSpPr/>
          <p:nvPr/>
        </p:nvCxnSpPr>
        <p:spPr>
          <a:xfrm flipH="1" rot="10800000">
            <a:off x="4788025" y="2568075"/>
            <a:ext cx="12042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8" name="Google Shape;228;p28"/>
          <p:cNvGraphicFramePr/>
          <p:nvPr/>
        </p:nvGraphicFramePr>
        <p:xfrm>
          <a:off x="5660900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{F4C21DFF-D38A-4F2B-B84B-658A9B7B63E3}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0.6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idx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cat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229" name="Google Shape;229;p28"/>
          <p:cNvGraphicFramePr/>
          <p:nvPr/>
        </p:nvGraphicFramePr>
        <p:xfrm>
          <a:off x="19706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{F4C21DFF-D38A-4F2B-B84B-658A9B7B63E3}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" name="Google Shape;230;p28"/>
          <p:cNvGraphicFramePr/>
          <p:nvPr/>
        </p:nvGraphicFramePr>
        <p:xfrm>
          <a:off x="31898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{F4C21DFF-D38A-4F2B-B84B-658A9B7B63E3}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Google Shape;231;p28"/>
          <p:cNvGraphicFramePr/>
          <p:nvPr/>
        </p:nvGraphicFramePr>
        <p:xfrm>
          <a:off x="44090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{F4C21DFF-D38A-4F2B-B84B-658A9B7B63E3}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2" name="Google Shape;232;p28"/>
          <p:cNvCxnSpPr/>
          <p:nvPr/>
        </p:nvCxnSpPr>
        <p:spPr>
          <a:xfrm rot="10800000">
            <a:off x="2353525" y="1672149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8"/>
          <p:cNvCxnSpPr/>
          <p:nvPr/>
        </p:nvCxnSpPr>
        <p:spPr>
          <a:xfrm rot="10800000">
            <a:off x="3586700" y="1671241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8"/>
          <p:cNvCxnSpPr/>
          <p:nvPr/>
        </p:nvCxnSpPr>
        <p:spPr>
          <a:xfrm rot="10800000">
            <a:off x="4791925" y="1671233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8"/>
          <p:cNvCxnSpPr/>
          <p:nvPr/>
        </p:nvCxnSpPr>
        <p:spPr>
          <a:xfrm rot="10800000">
            <a:off x="6043750" y="1671241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8"/>
          <p:cNvSpPr txBox="1"/>
          <p:nvPr/>
        </p:nvSpPr>
        <p:spPr>
          <a:xfrm>
            <a:off x="6879175" y="41302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Tokenize inputs using fixed vocabulary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6879175" y="32645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Convert tokens into fixed-dimensional numerical vectors (~1-3K dimensions)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6879175" y="189772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Transformers layers (12-96+) using self-attention mechanism (Viswani et. al. 2017)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6879175" y="8261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Get probability distribution over most likely next token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</a:t>
            </a:r>
            <a:endParaRPr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1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Self-supervised pretraining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Teach the model notion of language on a variety of often public data sources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100s of billions to trillion+ tokens (language and code)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Common Crawl, Wikipedia, StackExchange, Public Github repos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that could be used in a piece of code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2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Supervised finetuning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Teach model to follow instructions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High-quality, curated prompt-response pairs (“</a:t>
            </a:r>
            <a:r>
              <a:rPr i="1" lang="en"/>
              <a:t>what is the capital of Croatia</a:t>
            </a:r>
            <a:r>
              <a:rPr lang="en"/>
              <a:t>” -&gt; “</a:t>
            </a:r>
            <a:r>
              <a:rPr i="1" lang="en"/>
              <a:t>Zagreb is the capital</a:t>
            </a:r>
            <a:r>
              <a:rPr lang="en"/>
              <a:t>”)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Tens of thousands to 100s of thousands of pairs 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ok here’s a for loop…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3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Preferencing tuning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Align model outputs with human preferences (helpfulness, correctness, readability)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Collect pairs of outputs for same prompt and train reward model to predict preferred output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Tens of thousands to 100s of thousands of human-labeled comparisons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for idx in range(10):</a:t>
            </a:r>
            <a:endParaRPr/>
          </a:p>
        </p:txBody>
      </p:sp>
      <p:sp>
        <p:nvSpPr>
          <p:cNvPr id="246" name="Google Shape;246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8" name="Google Shape;248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</a:t>
            </a:r>
            <a:endParaRPr/>
          </a:p>
        </p:txBody>
      </p:sp>
      <p:sp>
        <p:nvSpPr>
          <p:cNvPr id="254" name="Google Shape;254;p30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Reasoning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Extend training with chain-of-thought reasoning traces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Tool-use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human preferences on reasoning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Reinforcement learning to learn how to evaluate reasoning traces, backtrack,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GPT-3/Claude 3.5 Sonnet - 175B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LLaMA 3.1 - 405B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GPT-4 - 1.8T (reported)</a:t>
            </a:r>
            <a:endParaRPr/>
          </a:p>
        </p:txBody>
      </p:sp>
      <p:sp>
        <p:nvSpPr>
          <p:cNvPr id="255" name="Google Shape;255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practice</a:t>
            </a:r>
            <a:endParaRPr/>
          </a:p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Expert-level code completion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understanding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fixing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Hallucinations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Generating non-existent/out-of-date APIs (mitigated with robust context engineering)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window limits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~100-200K tokens but not all are created equal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Latency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Seconds to </a:t>
            </a:r>
            <a:r>
              <a:rPr lang="en"/>
              <a:t>minutes</a:t>
            </a:r>
            <a:r>
              <a:rPr lang="en"/>
              <a:t> per request depending on task (plan and delegate accordingly)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$1-3 per million input tokens, $10+ per </a:t>
            </a:r>
            <a:r>
              <a:rPr lang="en"/>
              <a:t>million</a:t>
            </a:r>
            <a:r>
              <a:rPr lang="en"/>
              <a:t> output tokens for best models</a:t>
            </a:r>
            <a:endParaRPr/>
          </a:p>
        </p:txBody>
      </p:sp>
      <p:sp>
        <p:nvSpPr>
          <p:cNvPr id="264" name="Google Shape;264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3" name="Google Shape;273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3195889" y="1976200"/>
            <a:ext cx="27822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3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